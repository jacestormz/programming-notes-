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C5D8311-8D5D-49EE-8427-F46BF9937B9E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7A66-A4E0-40B1-A3C6-3E649599B3B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DC3AC-E2C7-4018-8002-819F3469B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9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7A66-A4E0-40B1-A3C6-3E649599B3B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DC3AC-E2C7-4018-8002-819F3469B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21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7A66-A4E0-40B1-A3C6-3E649599B3B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DC3AC-E2C7-4018-8002-819F3469B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623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7A66-A4E0-40B1-A3C6-3E649599B3B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DC3AC-E2C7-4018-8002-819F3469B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09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7A66-A4E0-40B1-A3C6-3E649599B3B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DC3AC-E2C7-4018-8002-819F3469B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60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7A66-A4E0-40B1-A3C6-3E649599B3B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DC3AC-E2C7-4018-8002-819F3469B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7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7A66-A4E0-40B1-A3C6-3E649599B3B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DC3AC-E2C7-4018-8002-819F3469B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5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7A66-A4E0-40B1-A3C6-3E649599B3B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DC3AC-E2C7-4018-8002-819F3469B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063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7A66-A4E0-40B1-A3C6-3E649599B3B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DC3AC-E2C7-4018-8002-819F3469B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0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7A66-A4E0-40B1-A3C6-3E649599B3B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DC3AC-E2C7-4018-8002-819F3469B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53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7A66-A4E0-40B1-A3C6-3E649599B3B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DC3AC-E2C7-4018-8002-819F3469B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30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7A66-A4E0-40B1-A3C6-3E649599B3B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DC3AC-E2C7-4018-8002-819F3469BDC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7874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7A66-A4E0-40B1-A3C6-3E649599B3B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DC3AC-E2C7-4018-8002-819F3469B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541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7A66-A4E0-40B1-A3C6-3E649599B3B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DC3AC-E2C7-4018-8002-819F3469B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5640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7A66-A4E0-40B1-A3C6-3E649599B3B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DC3AC-E2C7-4018-8002-819F3469B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3666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7A66-A4E0-40B1-A3C6-3E649599B3B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DC3AC-E2C7-4018-8002-819F3469B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383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67A66-A4E0-40B1-A3C6-3E649599B3B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DC3AC-E2C7-4018-8002-819F3469B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89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67A66-A4E0-40B1-A3C6-3E649599B3B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DC3AC-E2C7-4018-8002-819F3469B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35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C77A8-7355-C423-5AED-BD6C3952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Security &amp; Ethics Awareness Training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D071C-E64A-F30B-A0F6-5EB909180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Healthy Drinks</a:t>
            </a:r>
          </a:p>
          <a:p>
            <a:r>
              <a:rPr lang="en-US" dirty="0"/>
              <a:t>Gautam Rao</a:t>
            </a:r>
          </a:p>
        </p:txBody>
      </p:sp>
    </p:spTree>
    <p:extLst>
      <p:ext uri="{BB962C8B-B14F-4D97-AF65-F5344CB8AC3E}">
        <p14:creationId xmlns:p14="http://schemas.microsoft.com/office/powerpoint/2010/main" val="3836075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46108-10E7-FB13-CF83-F4DD608DA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</a:rPr>
              <a:t>Why Security &amp; Ethics Matter</a:t>
            </a: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98EB3-843B-1BFC-2971-AFBFEB549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effectLst/>
              </a:rPr>
              <a:t>Businesses face increasing cyber threats and data breaches.</a:t>
            </a:r>
          </a:p>
          <a:p>
            <a:pPr lvl="0"/>
            <a:r>
              <a:rPr lang="en-US" dirty="0">
                <a:effectLst/>
              </a:rPr>
              <a:t>Employees are the </a:t>
            </a:r>
            <a:r>
              <a:rPr lang="en-US" b="1" dirty="0">
                <a:effectLst/>
              </a:rPr>
              <a:t>first line of defense</a:t>
            </a:r>
            <a:r>
              <a:rPr lang="en-US" dirty="0">
                <a:effectLst/>
              </a:rPr>
              <a:t>.</a:t>
            </a:r>
          </a:p>
          <a:p>
            <a:pPr lvl="0"/>
            <a:r>
              <a:rPr lang="en-US" dirty="0">
                <a:effectLst/>
              </a:rPr>
              <a:t>Ethical behavior builds </a:t>
            </a:r>
            <a:r>
              <a:rPr lang="en-US" b="1" dirty="0">
                <a:effectLst/>
              </a:rPr>
              <a:t>trust</a:t>
            </a:r>
            <a:r>
              <a:rPr lang="en-US" dirty="0">
                <a:effectLst/>
              </a:rPr>
              <a:t>, protects reputation, and ensures legal compliance.</a:t>
            </a:r>
          </a:p>
          <a:p>
            <a:pPr lvl="0"/>
            <a:r>
              <a:rPr lang="en-US" dirty="0">
                <a:effectLst/>
              </a:rPr>
              <a:t>Security + Ethics = </a:t>
            </a:r>
            <a:r>
              <a:rPr lang="en-US" b="1" dirty="0">
                <a:effectLst/>
              </a:rPr>
              <a:t>Lower risk &amp; higher organizational integrity</a:t>
            </a:r>
            <a:r>
              <a:rPr lang="en-US" dirty="0">
                <a:effectLst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307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BC26E-84D5-4C70-1148-09FC5A58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Common Security Threats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14040-2602-E840-AC16-EF3981A66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b="1" dirty="0">
                <a:effectLst/>
              </a:rPr>
              <a:t>1. Phishing Attacks</a:t>
            </a:r>
            <a:endParaRPr lang="en-US" dirty="0">
              <a:effectLst/>
            </a:endParaRPr>
          </a:p>
          <a:p>
            <a:pPr lvl="1"/>
            <a:r>
              <a:rPr lang="en-US" dirty="0">
                <a:effectLst/>
              </a:rPr>
              <a:t>Fake emails/lures asking for login info or money.</a:t>
            </a:r>
          </a:p>
          <a:p>
            <a:pPr marL="0" lvl="0" indent="0">
              <a:buNone/>
            </a:pPr>
            <a:r>
              <a:rPr lang="en-US" b="1" dirty="0">
                <a:effectLst/>
              </a:rPr>
              <a:t>2. Malware/Ransomware</a:t>
            </a:r>
            <a:endParaRPr lang="en-US" dirty="0">
              <a:effectLst/>
            </a:endParaRPr>
          </a:p>
          <a:p>
            <a:pPr lvl="1"/>
            <a:r>
              <a:rPr lang="en-US" dirty="0">
                <a:effectLst/>
              </a:rPr>
              <a:t>Malicious software that steals or locks company data.</a:t>
            </a:r>
          </a:p>
          <a:p>
            <a:pPr marL="0" lvl="0" indent="0">
              <a:buNone/>
            </a:pPr>
            <a:r>
              <a:rPr lang="en-US" b="1" dirty="0">
                <a:effectLst/>
              </a:rPr>
              <a:t>3. Insider Threats</a:t>
            </a:r>
            <a:endParaRPr lang="en-US" dirty="0">
              <a:effectLst/>
            </a:endParaRPr>
          </a:p>
          <a:p>
            <a:pPr lvl="1"/>
            <a:r>
              <a:rPr lang="en-US" dirty="0">
                <a:effectLst/>
              </a:rPr>
              <a:t>Employees misusing access—accidentally or intentionally.</a:t>
            </a:r>
          </a:p>
          <a:p>
            <a:pPr marL="0" lvl="0" indent="0">
              <a:buNone/>
            </a:pPr>
            <a:r>
              <a:rPr lang="en-US" b="1" dirty="0">
                <a:effectLst/>
              </a:rPr>
              <a:t>4. Weak or Stolen Passwords</a:t>
            </a:r>
            <a:endParaRPr lang="en-US" dirty="0">
              <a:effectLst/>
            </a:endParaRPr>
          </a:p>
          <a:p>
            <a:pPr lvl="1"/>
            <a:r>
              <a:rPr lang="en-US" dirty="0">
                <a:effectLst/>
              </a:rPr>
              <a:t>One of the </a:t>
            </a:r>
            <a:r>
              <a:rPr lang="en-US" b="1" dirty="0">
                <a:effectLst/>
              </a:rPr>
              <a:t>#1 causes</a:t>
            </a:r>
            <a:r>
              <a:rPr lang="en-US" dirty="0">
                <a:effectLst/>
              </a:rPr>
              <a:t> of breaches.</a:t>
            </a:r>
          </a:p>
          <a:p>
            <a:pPr marL="0" lvl="0" indent="0">
              <a:buNone/>
            </a:pPr>
            <a:r>
              <a:rPr lang="en-US" b="1" dirty="0">
                <a:effectLst/>
              </a:rPr>
              <a:t>5. Social Engineering</a:t>
            </a:r>
            <a:endParaRPr lang="en-US" dirty="0">
              <a:effectLst/>
            </a:endParaRPr>
          </a:p>
          <a:p>
            <a:pPr lvl="1"/>
            <a:r>
              <a:rPr lang="en-US" dirty="0">
                <a:effectLst/>
              </a:rPr>
              <a:t>Manipulation of employees into giving confidential info.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829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0A2C7-B13A-4F74-CB12-BAEC243CB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Security Best Practices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85958-D245-8E5E-062C-569EF4AB4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effectLst/>
              </a:rPr>
              <a:t>Use </a:t>
            </a:r>
            <a:r>
              <a:rPr lang="en-US" b="1" dirty="0">
                <a:effectLst/>
              </a:rPr>
              <a:t>strong, unique passwords</a:t>
            </a:r>
            <a:r>
              <a:rPr lang="en-US" dirty="0">
                <a:effectLst/>
              </a:rPr>
              <a:t>; enable MFA.</a:t>
            </a:r>
          </a:p>
          <a:p>
            <a:pPr lvl="0"/>
            <a:r>
              <a:rPr lang="en-US" dirty="0">
                <a:effectLst/>
              </a:rPr>
              <a:t>Keep software and devices </a:t>
            </a:r>
            <a:r>
              <a:rPr lang="en-US" b="1" dirty="0">
                <a:effectLst/>
              </a:rPr>
              <a:t>updated</a:t>
            </a:r>
            <a:r>
              <a:rPr lang="en-US" dirty="0">
                <a:effectLst/>
              </a:rPr>
              <a:t>.</a:t>
            </a:r>
          </a:p>
          <a:p>
            <a:pPr lvl="0"/>
            <a:r>
              <a:rPr lang="en-US" dirty="0">
                <a:effectLst/>
              </a:rPr>
              <a:t>Verify suspicious links or emails before clicking.</a:t>
            </a:r>
          </a:p>
          <a:p>
            <a:pPr lvl="0"/>
            <a:r>
              <a:rPr lang="en-US" dirty="0">
                <a:effectLst/>
              </a:rPr>
              <a:t>Report incidents </a:t>
            </a:r>
            <a:r>
              <a:rPr lang="en-US" b="1" dirty="0">
                <a:effectLst/>
              </a:rPr>
              <a:t>immediately</a:t>
            </a:r>
            <a:r>
              <a:rPr lang="en-US" dirty="0">
                <a:effectLst/>
              </a:rPr>
              <a:t>.</a:t>
            </a:r>
          </a:p>
          <a:p>
            <a:pPr lvl="0"/>
            <a:r>
              <a:rPr lang="en-US" dirty="0">
                <a:effectLst/>
              </a:rPr>
              <a:t>Encrypt sensitive files and avoid public Wi-Fi for work.</a:t>
            </a:r>
          </a:p>
          <a:p>
            <a:pPr lvl="0"/>
            <a:r>
              <a:rPr lang="en-US" dirty="0">
                <a:effectLst/>
              </a:rPr>
              <a:t>Lock your screen when away.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348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9A34E-EBF3-B26E-692E-330BB6327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Data Protection (Compliance Snapshot)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95A8D-E6D9-6684-5609-6A1DE6F25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effectLst/>
              </a:rPr>
              <a:t>GDPR</a:t>
            </a:r>
            <a:r>
              <a:rPr lang="en-US" dirty="0">
                <a:effectLst/>
              </a:rPr>
              <a:t> (EU): Protects personal data &amp; privacy; emphasizes consent and data rights.</a:t>
            </a:r>
            <a:br>
              <a:rPr lang="en-US" dirty="0">
                <a:effectLst/>
              </a:rPr>
            </a:br>
            <a:r>
              <a:rPr lang="en-US" b="1" dirty="0">
                <a:effectLst/>
              </a:rPr>
              <a:t>HIPAA</a:t>
            </a:r>
            <a:r>
              <a:rPr lang="en-US" dirty="0">
                <a:effectLst/>
              </a:rPr>
              <a:t> (U.S.–Healthcare): Protects personal health information (PHI).</a:t>
            </a:r>
            <a:br>
              <a:rPr lang="en-US" dirty="0">
                <a:effectLst/>
              </a:rPr>
            </a:br>
            <a:r>
              <a:rPr lang="en-US" b="1" dirty="0">
                <a:effectLst/>
              </a:rPr>
              <a:t>PCI-DSS</a:t>
            </a:r>
            <a:r>
              <a:rPr lang="en-US" dirty="0">
                <a:effectLst/>
              </a:rPr>
              <a:t> (Global): Protects payment card data such as card numbers and CVV.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Businesses must:</a:t>
            </a:r>
          </a:p>
          <a:p>
            <a:pPr lvl="1"/>
            <a:r>
              <a:rPr lang="en-US" dirty="0">
                <a:effectLst/>
              </a:rPr>
              <a:t>Limit access to sensitive data.</a:t>
            </a:r>
          </a:p>
          <a:p>
            <a:pPr lvl="1"/>
            <a:r>
              <a:rPr lang="en-US" dirty="0">
                <a:effectLst/>
              </a:rPr>
              <a:t>Log activity and monitor systems.</a:t>
            </a:r>
          </a:p>
          <a:p>
            <a:pPr lvl="1"/>
            <a:r>
              <a:rPr lang="en-US" dirty="0">
                <a:effectLst/>
              </a:rPr>
              <a:t>Securely store and destroy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348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8AA84-5A32-A771-B4B4-A645FF90F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Ethical Principles in Business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18CF9-F8C7-C289-15AC-0EC9CAB52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>
                <a:effectLst/>
              </a:rPr>
              <a:t>Integrity</a:t>
            </a:r>
            <a:r>
              <a:rPr lang="en-US" dirty="0">
                <a:effectLst/>
              </a:rPr>
              <a:t> – Doing the right thing even when no one is watching.</a:t>
            </a:r>
          </a:p>
          <a:p>
            <a:pPr lvl="0"/>
            <a:r>
              <a:rPr lang="en-US" b="1" dirty="0">
                <a:effectLst/>
              </a:rPr>
              <a:t>Accountability</a:t>
            </a:r>
            <a:r>
              <a:rPr lang="en-US" dirty="0">
                <a:effectLst/>
              </a:rPr>
              <a:t> – Owning actions, decisions, and errors.</a:t>
            </a:r>
          </a:p>
          <a:p>
            <a:pPr lvl="0"/>
            <a:r>
              <a:rPr lang="en-US" b="1" dirty="0">
                <a:effectLst/>
              </a:rPr>
              <a:t>Confidentiality</a:t>
            </a:r>
            <a:r>
              <a:rPr lang="en-US" dirty="0">
                <a:effectLst/>
              </a:rPr>
              <a:t> – Protect sensitive company and customer data.</a:t>
            </a:r>
          </a:p>
          <a:p>
            <a:pPr lvl="0"/>
            <a:r>
              <a:rPr lang="en-US" b="1" dirty="0">
                <a:effectLst/>
              </a:rPr>
              <a:t>Fairness</a:t>
            </a:r>
            <a:r>
              <a:rPr lang="en-US" dirty="0">
                <a:effectLst/>
              </a:rPr>
              <a:t> – Treat customers, vendors, and coworkers ethically.</a:t>
            </a:r>
          </a:p>
          <a:p>
            <a:pPr lvl="0"/>
            <a:r>
              <a:rPr lang="en-US" b="1" dirty="0">
                <a:effectLst/>
              </a:rPr>
              <a:t>Transparency</a:t>
            </a:r>
            <a:r>
              <a:rPr lang="en-US" dirty="0">
                <a:effectLst/>
              </a:rPr>
              <a:t> – Avoid deception and disclose conflicts of interest.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00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2CDE1-0478-D15C-7CDB-C5138BDEA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Ethical Scenarios &amp; How to Handle Them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01451-9F11-C1ED-226D-4D70EDD6B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effectLst/>
              </a:rPr>
              <a:t>Scenario 1: Misuse of Company Data</a:t>
            </a:r>
            <a:endParaRPr lang="en-US" dirty="0">
              <a:effectLst/>
            </a:endParaRPr>
          </a:p>
          <a:p>
            <a:pPr marL="0" indent="0">
              <a:buNone/>
            </a:pPr>
            <a:r>
              <a:rPr lang="en-US" dirty="0">
                <a:effectLst/>
              </a:rPr>
              <a:t>You notice a coworker downloading customer data onto a personal USB drive.</a:t>
            </a:r>
            <a:br>
              <a:rPr lang="en-US" dirty="0">
                <a:effectLst/>
              </a:rPr>
            </a:br>
            <a:r>
              <a:rPr lang="en-US" b="1" dirty="0">
                <a:effectLst/>
              </a:rPr>
              <a:t>Correct Action:</a:t>
            </a:r>
            <a:endParaRPr lang="en-US" dirty="0">
              <a:effectLst/>
            </a:endParaRPr>
          </a:p>
          <a:p>
            <a:pPr lvl="1"/>
            <a:r>
              <a:rPr lang="en-US" dirty="0">
                <a:effectLst/>
              </a:rPr>
              <a:t>Report to supervisor/IT security.</a:t>
            </a:r>
          </a:p>
          <a:p>
            <a:pPr lvl="1"/>
            <a:r>
              <a:rPr lang="en-US" dirty="0">
                <a:effectLst/>
              </a:rPr>
              <a:t>Do </a:t>
            </a:r>
            <a:r>
              <a:rPr lang="en-US" i="1" dirty="0">
                <a:effectLst/>
              </a:rPr>
              <a:t>not</a:t>
            </a:r>
            <a:r>
              <a:rPr lang="en-US" dirty="0">
                <a:effectLst/>
              </a:rPr>
              <a:t> confront aggressively or ignore it.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Scenario 2: Conflict of Interest</a:t>
            </a:r>
            <a:endParaRPr lang="en-US" dirty="0">
              <a:effectLst/>
            </a:endParaRPr>
          </a:p>
          <a:p>
            <a:pPr marL="0" indent="0">
              <a:buNone/>
            </a:pPr>
            <a:r>
              <a:rPr lang="en-US" dirty="0">
                <a:effectLst/>
              </a:rPr>
              <a:t>An employee awards a contract to a vendor who is a family member.</a:t>
            </a:r>
            <a:br>
              <a:rPr lang="en-US" dirty="0">
                <a:effectLst/>
              </a:rPr>
            </a:br>
            <a:r>
              <a:rPr lang="en-US" b="1" dirty="0">
                <a:effectLst/>
              </a:rPr>
              <a:t>Correct Action:</a:t>
            </a:r>
            <a:endParaRPr lang="en-US" dirty="0">
              <a:effectLst/>
            </a:endParaRPr>
          </a:p>
          <a:p>
            <a:pPr lvl="0"/>
            <a:r>
              <a:rPr lang="en-US" dirty="0">
                <a:effectLst/>
              </a:rPr>
              <a:t>Disclose relationship.</a:t>
            </a:r>
          </a:p>
          <a:p>
            <a:pPr lvl="0"/>
            <a:r>
              <a:rPr lang="en-US" dirty="0">
                <a:effectLst/>
              </a:rPr>
              <a:t>Allow an independent decision-maker to review the selection.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153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AE1F3-E85E-B844-AC6D-9DF2B031B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Ethical Scenarios &amp; How to Handle Them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61C5F-5A9E-21A2-D745-799098FEA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effectLst/>
              </a:rPr>
              <a:t>Scenario 3: Handling Mistakes</a:t>
            </a:r>
            <a:endParaRPr lang="en-US" dirty="0">
              <a:effectLst/>
            </a:endParaRPr>
          </a:p>
          <a:p>
            <a:pPr marL="0" indent="0">
              <a:buNone/>
            </a:pPr>
            <a:r>
              <a:rPr lang="en-US" dirty="0">
                <a:effectLst/>
              </a:rPr>
              <a:t>You accidentally delete important project files.</a:t>
            </a:r>
            <a:br>
              <a:rPr lang="en-US" dirty="0">
                <a:effectLst/>
              </a:rPr>
            </a:br>
            <a:r>
              <a:rPr lang="en-US" b="1" dirty="0">
                <a:effectLst/>
              </a:rPr>
              <a:t>Correct Action:</a:t>
            </a:r>
            <a:endParaRPr lang="en-US" dirty="0">
              <a:effectLst/>
            </a:endParaRPr>
          </a:p>
          <a:p>
            <a:pPr lvl="1"/>
            <a:r>
              <a:rPr lang="en-US" dirty="0">
                <a:effectLst/>
              </a:rPr>
              <a:t>Report immediately; early disclosure limits damage.</a:t>
            </a:r>
          </a:p>
          <a:p>
            <a:pPr lvl="1"/>
            <a:r>
              <a:rPr lang="en-US" dirty="0">
                <a:effectLst/>
              </a:rPr>
              <a:t>Avoid cover-ups, which cause bigger failures.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Scenario 4: Unethical Pressure</a:t>
            </a:r>
            <a:endParaRPr lang="en-US" dirty="0">
              <a:effectLst/>
            </a:endParaRPr>
          </a:p>
          <a:p>
            <a:pPr marL="0" indent="0">
              <a:buNone/>
            </a:pPr>
            <a:r>
              <a:rPr lang="en-US" dirty="0">
                <a:effectLst/>
              </a:rPr>
              <a:t>A supervisor asks you to “adjust” numbers in a report to make performance look better.</a:t>
            </a:r>
            <a:br>
              <a:rPr lang="en-US" dirty="0">
                <a:effectLst/>
              </a:rPr>
            </a:br>
            <a:r>
              <a:rPr lang="en-US" b="1" dirty="0">
                <a:effectLst/>
              </a:rPr>
              <a:t>Correct Action:</a:t>
            </a:r>
            <a:endParaRPr lang="en-US" dirty="0">
              <a:effectLst/>
            </a:endParaRPr>
          </a:p>
          <a:p>
            <a:pPr lvl="1"/>
            <a:r>
              <a:rPr lang="en-US" dirty="0">
                <a:effectLst/>
              </a:rPr>
              <a:t>Politely decline and escalate through proper channels.</a:t>
            </a:r>
          </a:p>
          <a:p>
            <a:pPr lvl="1"/>
            <a:r>
              <a:rPr lang="en-US" dirty="0">
                <a:effectLst/>
              </a:rPr>
              <a:t>Data manipulation is unethical and illegal.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466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C7CE4-D44B-4676-3134-013674086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Creating a Strong Ethical Culture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D8F23-194A-ADA3-AF19-2AD855A58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effectLst/>
              </a:rPr>
              <a:t>Encourage reporting (anonymous channels).</a:t>
            </a:r>
          </a:p>
          <a:p>
            <a:pPr lvl="0"/>
            <a:r>
              <a:rPr lang="en-US" dirty="0">
                <a:effectLst/>
              </a:rPr>
              <a:t>Provide regular training.</a:t>
            </a:r>
          </a:p>
          <a:p>
            <a:pPr lvl="0"/>
            <a:r>
              <a:rPr lang="en-US" dirty="0">
                <a:effectLst/>
              </a:rPr>
              <a:t>Lead by example—managers set the tone.</a:t>
            </a:r>
          </a:p>
          <a:p>
            <a:pPr lvl="0"/>
            <a:r>
              <a:rPr lang="en-US" dirty="0">
                <a:effectLst/>
              </a:rPr>
              <a:t>Reward ethical behavior.</a:t>
            </a:r>
          </a:p>
          <a:p>
            <a:pPr lvl="0"/>
            <a:r>
              <a:rPr lang="en-US" dirty="0">
                <a:effectLst/>
              </a:rPr>
              <a:t>Zero tolerance for retaliation.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778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E907-D0A3-452C-87C2-514F11FBB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Incident Response Basics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FEA63-1982-A8E7-FE85-55BDCD32E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/>
              </a:rPr>
              <a:t>If you suspect a security incident: </a:t>
            </a:r>
          </a:p>
          <a:p>
            <a:pPr marL="0" lvl="0" indent="0">
              <a:buNone/>
            </a:pPr>
            <a:r>
              <a:rPr lang="en-US" dirty="0">
                <a:effectLst/>
              </a:rPr>
              <a:t>  1.</a:t>
            </a:r>
            <a:r>
              <a:rPr lang="en-US" b="1" dirty="0">
                <a:effectLst/>
              </a:rPr>
              <a:t> Stop and report</a:t>
            </a:r>
            <a:r>
              <a:rPr lang="en-US" dirty="0">
                <a:effectLst/>
              </a:rPr>
              <a:t>—don’t investigate alone.</a:t>
            </a:r>
          </a:p>
          <a:p>
            <a:pPr marL="0" lvl="0" indent="0">
              <a:buNone/>
            </a:pPr>
            <a:r>
              <a:rPr lang="en-US" dirty="0">
                <a:effectLst/>
              </a:rPr>
              <a:t>  2. Contact IT/security immediately.</a:t>
            </a:r>
          </a:p>
          <a:p>
            <a:pPr marL="0" lvl="0" indent="0">
              <a:buNone/>
            </a:pPr>
            <a:r>
              <a:rPr lang="en-US" dirty="0">
                <a:effectLst/>
              </a:rPr>
              <a:t>  3. Document what happened.</a:t>
            </a:r>
          </a:p>
          <a:p>
            <a:pPr marL="0" lvl="0" indent="0">
              <a:buNone/>
            </a:pPr>
            <a:r>
              <a:rPr lang="en-US" dirty="0">
                <a:effectLst/>
              </a:rPr>
              <a:t>  4. Do not delete or change files.</a:t>
            </a:r>
          </a:p>
          <a:p>
            <a:pPr marL="0" lvl="0" indent="0">
              <a:buNone/>
            </a:pPr>
            <a:r>
              <a:rPr lang="en-US" dirty="0">
                <a:effectLst/>
              </a:rPr>
              <a:t>  5. Follow the organization’s incident response plan.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957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A2C8-692B-B624-1C61-7DA85837D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16B9C-854F-D1F4-C724-1F0FA0E3E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>
                <a:effectLst/>
              </a:rPr>
              <a:t>Security protects the </a:t>
            </a:r>
            <a:r>
              <a:rPr lang="en-US" b="1" dirty="0">
                <a:effectLst/>
              </a:rPr>
              <a:t>business, employees, and customers</a:t>
            </a:r>
            <a:r>
              <a:rPr lang="en-US" dirty="0">
                <a:effectLst/>
              </a:rPr>
              <a:t>.</a:t>
            </a:r>
          </a:p>
          <a:p>
            <a:pPr marL="0" lvl="0" indent="0">
              <a:buNone/>
            </a:pPr>
            <a:r>
              <a:rPr lang="en-US" dirty="0">
                <a:effectLst/>
              </a:rPr>
              <a:t>Ethics strengthens </a:t>
            </a:r>
            <a:r>
              <a:rPr lang="en-US" b="1" dirty="0">
                <a:effectLst/>
              </a:rPr>
              <a:t>trust &amp; long-term success</a:t>
            </a:r>
            <a:r>
              <a:rPr lang="en-US" dirty="0">
                <a:effectLst/>
              </a:rPr>
              <a:t>.</a:t>
            </a:r>
          </a:p>
          <a:p>
            <a:pPr marL="0" lvl="0" indent="0">
              <a:buNone/>
            </a:pPr>
            <a:r>
              <a:rPr lang="en-US" dirty="0">
                <a:effectLst/>
              </a:rPr>
              <a:t>Always:</a:t>
            </a:r>
          </a:p>
          <a:p>
            <a:pPr lvl="1"/>
            <a:r>
              <a:rPr lang="en-US" dirty="0">
                <a:effectLst/>
              </a:rPr>
              <a:t>Think before clicking.</a:t>
            </a:r>
          </a:p>
          <a:p>
            <a:pPr lvl="1"/>
            <a:r>
              <a:rPr lang="en-US" dirty="0">
                <a:effectLst/>
              </a:rPr>
              <a:t>Protect data.</a:t>
            </a:r>
          </a:p>
          <a:p>
            <a:pPr lvl="1"/>
            <a:r>
              <a:rPr lang="en-US" dirty="0">
                <a:effectLst/>
              </a:rPr>
              <a:t>Act with integrity.</a:t>
            </a:r>
          </a:p>
          <a:p>
            <a:pPr lvl="1"/>
            <a:r>
              <a:rPr lang="en-US" dirty="0">
                <a:effectLst/>
              </a:rPr>
              <a:t>Report concerns promptly.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057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29</TotalTime>
  <Words>593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Bookman Old Style</vt:lpstr>
      <vt:lpstr>Rockwell</vt:lpstr>
      <vt:lpstr>Damask</vt:lpstr>
      <vt:lpstr>Security &amp; Ethics Awareness Training</vt:lpstr>
      <vt:lpstr>Why Security &amp; Ethics Matter </vt:lpstr>
      <vt:lpstr>Common Security Threats</vt:lpstr>
      <vt:lpstr>Security Best Practices</vt:lpstr>
      <vt:lpstr>Data Protection (Compliance Snapshot)</vt:lpstr>
      <vt:lpstr>Ethical Principles in Business</vt:lpstr>
      <vt:lpstr>Ethical Scenarios &amp; How to Handle Them</vt:lpstr>
      <vt:lpstr>Ethical Scenarios &amp; How to Handle Them</vt:lpstr>
      <vt:lpstr>Creating a Strong Ethical Culture</vt:lpstr>
      <vt:lpstr>Incident Response Basics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Gautam Rao</dc:creator>
  <cp:lastModifiedBy>Gautam Rao</cp:lastModifiedBy>
  <cp:revision>1</cp:revision>
  <dcterms:created xsi:type="dcterms:W3CDTF">2025-11-14T15:20:51Z</dcterms:created>
  <dcterms:modified xsi:type="dcterms:W3CDTF">2025-11-14T15:49:57Z</dcterms:modified>
</cp:coreProperties>
</file>